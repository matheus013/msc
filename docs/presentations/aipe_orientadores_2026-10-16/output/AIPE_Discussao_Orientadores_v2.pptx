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651a4f9a2641b4" /><Relationship Type="http://schemas.openxmlformats.org/officeDocument/2006/relationships/extended-properties" Target="/docProps/app.xml" Id="R5fc92f9500ef4d41" /><Relationship Type="http://schemas.openxmlformats.org/officeDocument/2006/relationships/officeDocument" Target="/ppt/presentation.xml" Id="R5e85347e2e3b4d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033a2bd4e94e19"/>
  </p:sldMasterIdLst>
  <p:notesMasterIdLst>
    <p:notesMasterId xmlns:r="http://schemas.openxmlformats.org/officeDocument/2006/relationships" r:id="R796fca6584f1417f"/>
  </p:notesMasterIdLst>
  <p:sldIdLst>
    <p:sldId xmlns:r="http://schemas.openxmlformats.org/officeDocument/2006/relationships" id="256" r:id="R423f55ac9f384e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d0fff57e3d43fc" /><Relationship Type="http://schemas.openxmlformats.org/officeDocument/2006/relationships/slideMaster" Target="/ppt/slideMasters/slideMaster1.xml" Id="R6e033a2bd4e94e19" /><Relationship Type="http://schemas.openxmlformats.org/officeDocument/2006/relationships/notesMaster" Target="/ppt/notesMasters/notesMaster1.xml" Id="R796fca6584f1417f" /><Relationship Type="http://schemas.openxmlformats.org/officeDocument/2006/relationships/presProps" Target="/ppt/presProps.xml" Id="Rf4d163aeb6184981" /><Relationship Type="http://schemas.openxmlformats.org/officeDocument/2006/relationships/tableStyles" Target="/ppt/tableStyles.xml" Id="R4b3f859a872a414d" /><Relationship Type="http://schemas.openxmlformats.org/officeDocument/2006/relationships/slide" Target="/ppt/slides/slide1.xml" Id="R423f55ac9f384e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7290935fa84b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39f8c4caee43ab" /><Relationship Type="http://schemas.openxmlformats.org/officeDocument/2006/relationships/notesMaster" Target="/ppt/notesMasters/notesMaster1.xml" Id="Ra7a41010a2564b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PARA A DISCUSSÃO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da reunião</a:t>
            </a:r>
          </a:p>
          <a:p xmlns:a="http://schemas.openxmlformats.org/drawingml/2006/main">
            <a:r>
              <a:t>Alinhar qual evidência precisamos fechar para defender o AIPE como metodologia de apoio ao gerente. O foco é reduzir custos evitáveis preservando o atendimento. Identificadores de lojas organizam contextos de demanda e dependências amostrais; o trabalho não mede eficiência gerencial das lojas.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Contribuição</a:t>
            </a:r>
          </a:p>
          <a:p xmlns:a="http://schemas.openxmlformats.org/drawingml/2006/main">
            <a:r>
              <a:t>Pergunta aos orientadores: qual contribuição metodológica precisa ficar demonstrada para a banca e para a revista? Proposta: explicitar os contratos entre contexto, evidência, seleção e avaliação e mostrar quando a escolha contextual agrega valor frente a uma referência global calibrada. O PSE, Policy Selection Engine, é o módulo de seleção. Ele admite associação por perfil e estimação supervisionada; nos resultados atuais os perfis derivam do histórico. A relevância prática depende do contexto e do julgamento humano, sem percentual universal de economia. Redução pequena pode ser útil em grande escala, mas precisamos apresentar magnitude, incerteza, deteriorações e esforço de aplicação.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Operação</a:t>
            </a:r>
          </a:p>
          <a:p xmlns:a="http://schemas.openxmlformats.org/drawingml/2006/main">
            <a:r>
              <a:t>A empresa-fonte reavalia a cada ciclo comercial, conforme informação fornecida pelo pesquisador. O AIPE propõe parametrizar período de análise, cadência de revisão, horizonte e atualização dos modelos. A execução atual escolhe uma família para sete ciclos de teste, embora o controlador faça pedidos por período. Proposta para discussão: decidir se uma avaliação sequencial mínima integra a evidência principal desta dissertação ou fica como continuidade. Ela precisa preservar saldo e pedidos em trânsito ao trocar de família. Os artefatos atuais não preservam todos os parâmetros finais e trajetórias; o planejamento cronológico foi preparado, mas a avaliação sequencial ainda não foi executada. Não confundir flexibilidade proposta com eficácia demonstrada sob qualquer cadência.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Validação</a:t>
            </a:r>
          </a:p>
          <a:p xmlns:a="http://schemas.openxmlformats.org/drawingml/2006/main">
            <a:r>
              <a:t>Pergunta: qual instanciação deve ser a comparação principal e qual reserva genuína podemos utilizar? O piloto já influenciou o desenvolvimento. Proposta: concluir a matriz em andamento, fixar a regra no desenvolvimento, auditar dados ainda não usados para escolhas e somente então confirmar. A diferença entre treino, validação e teste deve respeitar lojas, períodos e informação disponível. As séries fora do piloto não constituem confirmação independente apenas por serem outras séries. Comparadores próximos da literatura e sensibilidades precisam de seleção dirigida, sem ampliar o portfólio por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Fechamento</a:t>
            </a:r>
          </a:p>
          <a:p xmlns:a="http://schemas.openxmlformats.org/drawingml/2006/main">
            <a:r>
              <a:t>Proposta: a dissertação explica a metodologia, seus contratos, instanciações e limites. O artigo concentra uma contribuição delimitada apoiada nas evidências concluídas. Precisamos pactuar quais entregas são essenciais: recomendação com parametrização, alternativas, consequências estimadas e rastreabilidade para decisão humana. A prévia gerencial existente é parcial. Uso por gerentes e economia financeira realizada exigem dados operacionais e avaliação própria; os custos experimentais atuais são unidades de cenário.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</a:t>
            </a:r>
          </a:p>
          <a:p xmlns:a="http://schemas.openxmlformats.org/drawingml/2006/main">
            <a:r>
              <a:t>Registrar com os orientadores: contribuição central, escopo sequencial, comparação principal, reserva de avaliação e critérios de conclusão. Definir responsáveis e prazos após esse alinhamento, sem prometer duração ainda não estimada.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LOCAIS, versão de 16/10/2026</a:t>
            </a:r>
          </a:p>
          <a:p xmlns:a="http://schemas.openxmlformats.org/drawingml/2006/main">
            <a:r>
              <a:t>C:/Users/mathe/mestrado/docs/operations/PROTOCOLO_CIENTIFICO_AIPE_R1.md</a:t>
            </a:r>
          </a:p>
          <a:p xmlns:a="http://schemas.openxmlformats.org/drawingml/2006/main">
            <a:r>
              <a:t>C:/Users/mathe/mestrado/docs/operations/input_audit_2026-10-16/RELATORIO.md</a:t>
            </a:r>
          </a:p>
          <a:p xmlns:a="http://schemas.openxmlformats.org/drawingml/2006/main">
            <a:r>
              <a:t>C:/Users/mathe/mestrado/docs/operations/PLANO_AVALIACAO_SEQUENCIAL_AIPE.md</a:t>
            </a:r>
          </a:p>
          <a:p xmlns:a="http://schemas.openxmlformats.org/drawingml/2006/main">
            <a:r>
              <a:t>C:/Users/mathe/mestrado/docs/academic_contract_revision_2026-10-16/FECHAMENTO.md</a:t>
            </a:r>
          </a:p>
          <a:p xmlns:a="http://schemas.openxmlformats.org/drawingml/2006/main">
            <a:r>
              <a:t>C:/Users/mathe/mestrado/docs/supply_chain_analytics_article/manuscript_ptbr.tex</a:t>
            </a:r>
          </a:p>
          <a:p xmlns:a="http://schemas.openxmlformats.org/drawingml/2006/main">
            <a:r>
              <a:t>C:/Users/mathe/mestrado/docs/master_proposal/capitulos/proposta.tex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161c377634d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66e496e6741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36450118044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f3468d5cc4b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c5f447e2ee4d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d93b8e1a84c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724EE0-AABE-481B-B665-6DEA078B6E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2FEE39-DCDF-4C58-912C-384E05CD19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9023A18-C138-4338-B4A3-502E850E02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3D6A8E-D0B9-4907-9EE9-01AE6D7AE4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525D62-EE8B-4BC9-996A-14FA29492F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A5ADE8-56BC-4F29-B3D7-C1DA127982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48FC21-F6CA-44DE-827E-211C79C385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CA7D89C-627A-4E1D-ADD2-C2AF02FB54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EDB15F-E946-4D74-980E-EF7A231BBF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F8D01E-D99A-4F48-A163-B22C56FC80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a7c3cf66834fdb" /><Relationship Type="http://schemas.openxmlformats.org/officeDocument/2006/relationships/slideLayout" Target="/ppt/slideLayouts/slideLayout1.xml" Id="R9f7cde775d5f40c0" /><Relationship Type="http://schemas.openxmlformats.org/officeDocument/2006/relationships/slideLayout" Target="/ppt/slideLayouts/slideLayout2.xml" Id="R4194fa34a372414d" /><Relationship Type="http://schemas.openxmlformats.org/officeDocument/2006/relationships/slideLayout" Target="/ppt/slideLayouts/slideLayout3.xml" Id="R298ce5efd61545a4" /><Relationship Type="http://schemas.openxmlformats.org/officeDocument/2006/relationships/slideLayout" Target="/ppt/slideLayouts/slideLayout4.xml" Id="R74fcbcff02dc4a99" /><Relationship Type="http://schemas.openxmlformats.org/officeDocument/2006/relationships/slideLayout" Target="/ppt/slideLayouts/slideLayout5.xml" Id="R01990197c84e4525" /><Relationship Type="http://schemas.openxmlformats.org/officeDocument/2006/relationships/slideLayout" Target="/ppt/slideLayouts/slideLayout6.xml" Id="Rd6ee3df770b94a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cde775d5f40c0"/>
    <p:sldLayoutId xmlns:r="http://schemas.openxmlformats.org/officeDocument/2006/relationships" id="2147483650" r:id="R4194fa34a372414d"/>
    <p:sldLayoutId xmlns:r="http://schemas.openxmlformats.org/officeDocument/2006/relationships" id="2147483651" r:id="R298ce5efd61545a4"/>
    <p:sldLayoutId xmlns:r="http://schemas.openxmlformats.org/officeDocument/2006/relationships" id="2147483652" r:id="R74fcbcff02dc4a99"/>
    <p:sldLayoutId xmlns:r="http://schemas.openxmlformats.org/officeDocument/2006/relationships" id="2147483653" r:id="R01990197c84e4525"/>
    <p:sldLayoutId xmlns:r="http://schemas.openxmlformats.org/officeDocument/2006/relationships" id="2147483654" r:id="Rd6ee3df770b94a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b6f22754df49c8" /><Relationship Type="http://schemas.openxmlformats.org/officeDocument/2006/relationships/notesSlide" Target="/ppt/notesSlides/notesSlide1.xml" Id="Rc5a7aa5437e943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56AACCC-2523-4AA9-919F-8214B768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AIPE: discussão com os orientadores</a:t>
            </a:r>
          </a:p>
        </p:txBody>
      </p:sp>
      <p:sp>
        <p:nvSpPr>
          <p:cNvPr id="2" name="objective">
            <a:extLst xmlns:a="http://schemas.openxmlformats.org/drawingml/2006/main">
              <a:ext uri="{FF2B5EF4-FFF2-40B4-BE49-F238E27FC236}">
                <a16:creationId xmlns:a16="http://schemas.microsoft.com/office/drawing/2014/main" id="{152A1436-45D7-48EA-9DEE-CDBC7AC8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3"/>
                </a:solidFill>
                <a:latin typeface="Arial"/>
                <a:ea typeface="Arial"/>
                <a:cs typeface="Arial"/>
              </a:rPr>
              <a:t>Apoiar o gerente na redução de custos evitáveis, preservando atendimento e rastreabilidade.</a:t>
            </a:r>
          </a:p>
        </p:txBody>
      </p:sp>
      <p:sp>
        <p:nvSpPr>
          <p:cNvPr id="3" name="evidence">
            <a:extLst xmlns:a="http://schemas.openxmlformats.org/drawingml/2006/main">
              <a:ext uri="{FF2B5EF4-FFF2-40B4-BE49-F238E27FC236}">
                <a16:creationId xmlns:a16="http://schemas.microsoft.com/office/drawing/2014/main" id="{59249243-959B-4BA4-9B2C-96246A22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Evidência atual: vendas reais em cenários simulados. A seleção mantém a família por sete ciclos; a revisão a cada ciclo ainda precisa de avaliação.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7C0E3-A916-431F-8D49-6DFBC0E92A1C}"/>
              </a:ext>
            </a:extLst>
          </p:cNvPr>
          <p:cNvGraphicFramePr/>
          <p:nvPr/>
        </p:nvGraphicFramePr>
        <p:xfrm>
          <a:off xmlns:a="http://schemas.openxmlformats.org/drawingml/2006/main" x="609600" y="2362200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809750"/>
                <a:gridCol w="4095750"/>
                <a:gridCol w="5067300"/>
              </a:tblGrid>
              <a:tr h="4191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Tema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T w="5715">
                      <a:solidFill>
                        <a:srgbClr val="D8E1E7"/>
                      </a:solidFill>
                      <a:prstDash val="solid"/>
                    </a:lnT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E8EFF2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Ponto a alinhar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T w="5715">
                      <a:solidFill>
                        <a:srgbClr val="D8E1E7"/>
                      </a:solidFill>
                      <a:prstDash val="solid"/>
                    </a:lnT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E8EFF2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Direcionamento proposto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T w="5715">
                      <a:solidFill>
                        <a:srgbClr val="D8E1E7"/>
                      </a:solidFill>
                      <a:prstDash val="solid"/>
                    </a:lnT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E8EFF2"/>
                    </a:solidFill>
                  </a:tcPr>
                </a:tc>
              </a:tr>
              <a:tr h="7239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6D70"/>
                          </a:solidFill>
                          <a:latin typeface="Arial"/>
                          <a:ea typeface="Arial"/>
                          <a:cs typeface="Arial"/>
                        </a:rPr>
                        <a:t>Contribuição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Qual é a contribuição própria do AIPE?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Avaliar decisões rastreáveis por custo e atendimento frente à referência global.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  <a:tr h="7239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6D70"/>
                          </a:solidFill>
                          <a:latin typeface="Arial"/>
                          <a:ea typeface="Arial"/>
                          <a:cs typeface="Arial"/>
                        </a:rPr>
                        <a:t>Operação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A revisão por ciclo entra no escopo principal?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Concluir a análise atual e testar uma versão sequencial mínima.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  <a:tr h="7239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6D70"/>
                          </a:solidFill>
                          <a:latin typeface="Arial"/>
                          <a:ea typeface="Arial"/>
                          <a:cs typeface="Arial"/>
                        </a:rPr>
                        <a:t>Validação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Qual configuração e reserva confirmar?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Fixar a comparação principal e reservar dados para avaliação independente.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  <a:tr h="7239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6D70"/>
                          </a:solidFill>
                          <a:latin typeface="Arial"/>
                          <a:ea typeface="Arial"/>
                          <a:cs typeface="Arial"/>
                        </a:rPr>
                        <a:t>Fechamento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O que é essencial para defesa e artigo?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Dissertação: método e limites. Artigo: contribuição delimitada.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meeting-result">
            <a:extLst xmlns:a="http://schemas.openxmlformats.org/drawingml/2006/main">
              <a:ext uri="{FF2B5EF4-FFF2-40B4-BE49-F238E27FC236}">
                <a16:creationId xmlns:a16="http://schemas.microsoft.com/office/drawing/2014/main" id="{AF03FC6D-AAAF-41E3-BF09-9E91A364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6D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D70"/>
                </a:solidFill>
                <a:latin typeface="Arial"/>
                <a:ea typeface="Arial"/>
                <a:cs typeface="Arial"/>
              </a:rPr>
              <a:t>Saída esperada: escopo mínimo, comparação principal e critérios para concluir o trabalho.</a:t>
            </a:r>
          </a:p>
        </p:txBody>
      </p:sp>
      <p:sp>
        <p:nvSpPr>
          <p:cNvPr id="6" name="author">
            <a:extLst xmlns:a="http://schemas.openxmlformats.org/drawingml/2006/main">
              <a:ext uri="{FF2B5EF4-FFF2-40B4-BE49-F238E27FC236}">
                <a16:creationId xmlns:a16="http://schemas.microsoft.com/office/drawing/2014/main" id="{49ECD2DF-306E-4E89-9CAF-287BCDA1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Matheus Inácio Batista Santos, 16/10/2026</a:t>
            </a:r>
          </a:p>
        </p:txBody>
      </p:sp>
    </p:spTree>
    <p:extLst>
      <p:ext uri="{BB962C8B-B14F-4D97-AF65-F5344CB8AC3E}">
        <p14:creationId xmlns:p14="http://schemas.microsoft.com/office/powerpoint/2010/main" val="1853953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2026-10-16T16:25:39.6900000Z</dcterms:created>
  <dcterms:modified xsi:type="dcterms:W3CDTF">2026-10-16T16:25:39.6900000Z</dcterms:modified>
</coreProperties>
</file>