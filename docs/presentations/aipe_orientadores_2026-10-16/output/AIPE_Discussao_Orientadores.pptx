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ebe0f330a848e1" /><Relationship Type="http://schemas.openxmlformats.org/officeDocument/2006/relationships/extended-properties" Target="/docProps/app.xml" Id="Rdd8f7769211641c2" /><Relationship Type="http://schemas.openxmlformats.org/officeDocument/2006/relationships/officeDocument" Target="/ppt/presentation.xml" Id="Ree7401c8fa7140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bf38f981343f8"/>
  </p:sldMasterIdLst>
  <p:notesMasterIdLst>
    <p:notesMasterId xmlns:r="http://schemas.openxmlformats.org/officeDocument/2006/relationships" r:id="R83bea97f07114bce"/>
  </p:notesMasterIdLst>
  <p:sldIdLst>
    <p:sldId xmlns:r="http://schemas.openxmlformats.org/officeDocument/2006/relationships" id="256" r:id="Re6597596ae5f4a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98fdda0ed345b5" /><Relationship Type="http://schemas.openxmlformats.org/officeDocument/2006/relationships/slideMaster" Target="/ppt/slideMasters/slideMaster1.xml" Id="R80cbf38f981343f8" /><Relationship Type="http://schemas.openxmlformats.org/officeDocument/2006/relationships/notesMaster" Target="/ppt/notesMasters/notesMaster1.xml" Id="R83bea97f07114bce" /><Relationship Type="http://schemas.openxmlformats.org/officeDocument/2006/relationships/presProps" Target="/ppt/presProps.xml" Id="R002b230eefc94ed9" /><Relationship Type="http://schemas.openxmlformats.org/officeDocument/2006/relationships/tableStyles" Target="/ppt/tableStyles.xml" Id="R1ca475cee0f34bf7" /><Relationship Type="http://schemas.openxmlformats.org/officeDocument/2006/relationships/slide" Target="/ppt/slides/slide1.xml" Id="Re6597596ae5f4a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4531ff9a9348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d67b0ebf14e3f" /><Relationship Type="http://schemas.openxmlformats.org/officeDocument/2006/relationships/notesMaster" Target="/ppt/notesMasters/notesMaster1.xml" Id="R20980bcd26f647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 PARA A DISCUSSÃO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da reunião</a:t>
            </a:r>
          </a:p>
          <a:p xmlns:a="http://schemas.openxmlformats.org/drawingml/2006/main">
            <a:r>
              <a:t>Alinhar qual evidência precisamos fechar para defender o AIPE como metodologia de apoio ao gerente. O foco é reduzir custos evitáveis preservando o atendimento. Identificadores de lojas organizam contextos de demanda e dependências amostrais; o trabalho não mede eficiência gerencial das lojas.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Contribuição</a:t>
            </a:r>
          </a:p>
          <a:p xmlns:a="http://schemas.openxmlformats.org/drawingml/2006/main">
            <a:r>
              <a:t>Pergunta aos orientadores: qual contribuição metodológica precisa ficar demonstrada para a banca e para a revista? Proposta: explicitar os contratos entre contexto, evidência, seleção e avaliação e mostrar quando a escolha contextual agrega valor frente a uma referência global calibrada. O PSE, Policy Selection Engine, é o módulo de seleção. Ele admite associação por perfil e estimação supervisionada; nos resultados atuais os perfis derivam do histórico. A relevância prática depende do contexto e do julgamento humano, sem percentual universal de economia. Redução pequena pode ser útil em grande escala, mas precisamos apresentar magnitude, incerteza, deteriorações e esforço de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Operação</a:t>
            </a:r>
          </a:p>
          <a:p xmlns:a="http://schemas.openxmlformats.org/drawingml/2006/main">
            <a:r>
              <a:t>A empresa-fonte reavalia a cada ciclo comercial, conforme informação fornecida pelo pesquisador. O AIPE propõe parametrizar período de análise, cadência de revisão, horizonte e atualização dos modelos. A execução atual escolhe uma família para sete ciclos de teste, embora o controlador faça pedidos por período. Proposta para discussão: decidir se uma avaliação sequencial mínima integra a evidência principal desta dissertação ou fica como continuidade. Ela precisa preservar saldo e pedidos em trânsito ao trocar de família. Os artefatos atuais não preservam todos os parâmetros finais e trajetórias; o planejamento cronológico foi preparado, mas a avaliação sequencial ainda não foi executada. Não confundir flexibilidade proposta com eficácia demonstrada sob qualquer cadência.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Validação</a:t>
            </a:r>
          </a:p>
          <a:p xmlns:a="http://schemas.openxmlformats.org/drawingml/2006/main">
            <a:r>
              <a:t>Pergunta: qual instanciação deve ser a comparação principal e qual reserva genuína podemos utilizar? O piloto já influenciou o desenvolvimento. Proposta: concluir a matriz em andamento, fixar a regra no desenvolvimento, auditar dados ainda não usados para escolhas e somente então confirmar. A diferença entre treino, validação e teste deve respeitar lojas, períodos e informação disponível. As séries fora do piloto não constituem confirmação independente apenas por serem outras séries. Comparadores próximos da literatura e sensibilidades precisam de seleção dirigida, sem ampliar o portfólio por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Fechamento</a:t>
            </a:r>
          </a:p>
          <a:p xmlns:a="http://schemas.openxmlformats.org/drawingml/2006/main">
            <a:r>
              <a:t>Proposta: a dissertação explica a metodologia, seus contratos, instanciações e limites. O artigo concentra uma contribuição delimitada apoiada nas evidências concluídas. Precisamos pactuar quais entregas são essenciais: recomendação com parametrização, alternativas, consequências estimadas e rastreabilidade para decisão humana. A prévia gerencial existente é parcial. Uso por gerentes e economia financeira realizada exigem dados operacionais e avaliação própria; os custos experimentais atuais são unidades de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</a:t>
            </a:r>
          </a:p>
          <a:p xmlns:a="http://schemas.openxmlformats.org/drawingml/2006/main">
            <a:r>
              <a:t>Registrar com os orientadores: contribuição central, escopo sequencial, comparação principal, reserva de avaliação e critérios de conclusão. Definir responsáveis e prazos após esse alinhamento, sem prometer duração ainda não estimada.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LOCAIS, versão de 16/10/2026</a:t>
            </a:r>
          </a:p>
          <a:p xmlns:a="http://schemas.openxmlformats.org/drawingml/2006/main">
            <a:r>
              <a:t>C:/Users/mathe/mestrado/docs/operations/PROTOCOLO_CIENTIFICO_AIPE_R1.md</a:t>
            </a:r>
          </a:p>
          <a:p xmlns:a="http://schemas.openxmlformats.org/drawingml/2006/main">
            <a:r>
              <a:t>C:/Users/mathe/mestrado/docs/operations/input_audit_2026-10-16/RELATORIO.md</a:t>
            </a:r>
          </a:p>
          <a:p xmlns:a="http://schemas.openxmlformats.org/drawingml/2006/main">
            <a:r>
              <a:t>C:/Users/mathe/mestrado/docs/operations/PLANO_AVALIACAO_SEQUENCIAL_AIPE.md</a:t>
            </a:r>
          </a:p>
          <a:p xmlns:a="http://schemas.openxmlformats.org/drawingml/2006/main">
            <a:r>
              <a:t>C:/Users/mathe/mestrado/docs/academic_contract_revision_2026-10-16/FECHAMENTO.md</a:t>
            </a:r>
          </a:p>
          <a:p xmlns:a="http://schemas.openxmlformats.org/drawingml/2006/main">
            <a:r>
              <a:t>C:/Users/mathe/mestrado/docs/supply_chain_analytics_article/manuscript_ptbr.tex</a:t>
            </a:r>
          </a:p>
          <a:p xmlns:a="http://schemas.openxmlformats.org/drawingml/2006/main">
            <a:r>
              <a:t>C:/Users/mathe/mestrado/docs/master_proposal/capitulos/proposta.tex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3652ce0ed45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0116f027f4b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05a7e1ba349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27b7423724c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13889016d4c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0babe580146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D2D325-A08E-494E-8D32-7DFFA1F1C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1CFD5D-64FF-446E-BA4A-64865C82EA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7C5AB6-AE48-43F8-9DBB-B1597646B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4E8FB8-3A81-4CE0-B806-1B83772728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C64F98-BEFA-4FBA-9F48-EEF1E9E58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166970-6361-4AF4-AE1B-9CA7302E91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B1ADEE-D287-485B-BEEF-7D88E7F92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77A84C-31C2-4092-9C40-9176B555DA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6C8B9F-5728-45A2-BB08-DDDA9BC19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D7636E-60A7-43C3-A11D-ED494317B5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40df636b12448e" /><Relationship Type="http://schemas.openxmlformats.org/officeDocument/2006/relationships/slideLayout" Target="/ppt/slideLayouts/slideLayout1.xml" Id="R942da7561c07456a" /><Relationship Type="http://schemas.openxmlformats.org/officeDocument/2006/relationships/slideLayout" Target="/ppt/slideLayouts/slideLayout2.xml" Id="R89bb78d517864ac8" /><Relationship Type="http://schemas.openxmlformats.org/officeDocument/2006/relationships/slideLayout" Target="/ppt/slideLayouts/slideLayout3.xml" Id="R11ee4b3d3c0f432a" /><Relationship Type="http://schemas.openxmlformats.org/officeDocument/2006/relationships/slideLayout" Target="/ppt/slideLayouts/slideLayout4.xml" Id="R56365d085efb483f" /><Relationship Type="http://schemas.openxmlformats.org/officeDocument/2006/relationships/slideLayout" Target="/ppt/slideLayouts/slideLayout5.xml" Id="R9d6a0f996a8249f6" /><Relationship Type="http://schemas.openxmlformats.org/officeDocument/2006/relationships/slideLayout" Target="/ppt/slideLayouts/slideLayout6.xml" Id="R1c13513a897243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2da7561c07456a"/>
    <p:sldLayoutId xmlns:r="http://schemas.openxmlformats.org/officeDocument/2006/relationships" id="2147483650" r:id="R89bb78d517864ac8"/>
    <p:sldLayoutId xmlns:r="http://schemas.openxmlformats.org/officeDocument/2006/relationships" id="2147483651" r:id="R11ee4b3d3c0f432a"/>
    <p:sldLayoutId xmlns:r="http://schemas.openxmlformats.org/officeDocument/2006/relationships" id="2147483652" r:id="R56365d085efb483f"/>
    <p:sldLayoutId xmlns:r="http://schemas.openxmlformats.org/officeDocument/2006/relationships" id="2147483653" r:id="R9d6a0f996a8249f6"/>
    <p:sldLayoutId xmlns:r="http://schemas.openxmlformats.org/officeDocument/2006/relationships" id="2147483654" r:id="R1c13513a897243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1522f6e434368" /><Relationship Type="http://schemas.openxmlformats.org/officeDocument/2006/relationships/notesSlide" Target="/ppt/notesSlides/notesSlide1.xml" Id="Rfd7a8d1092d74f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3C9FBC3-ACB0-4C0E-BA79-B57CA61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AIPE: discussão com os orientadores</a:t>
            </a:r>
          </a:p>
        </p:txBody>
      </p:sp>
      <p:sp>
        <p:nvSpPr>
          <p:cNvPr id="2" name="objective">
            <a:extLst xmlns:a="http://schemas.openxmlformats.org/drawingml/2006/main">
              <a:ext uri="{FF2B5EF4-FFF2-40B4-BE49-F238E27FC236}">
                <a16:creationId xmlns:a16="http://schemas.microsoft.com/office/drawing/2014/main" id="{ADE13F21-9C59-4DC5-99C1-FD4FFCDB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3"/>
                </a:solidFill>
                <a:latin typeface="Arial"/>
                <a:ea typeface="Arial"/>
                <a:cs typeface="Arial"/>
              </a:rPr>
              <a:t>Apoiar o gerente na redução de custos evitáveis, preservando atendimento e rastreabilidade.</a:t>
            </a:r>
          </a:p>
        </p:txBody>
      </p:sp>
      <p:sp>
        <p:nvSpPr>
          <p:cNvPr id="3" name="evidence">
            <a:extLst xmlns:a="http://schemas.openxmlformats.org/drawingml/2006/main">
              <a:ext uri="{FF2B5EF4-FFF2-40B4-BE49-F238E27FC236}">
                <a16:creationId xmlns:a16="http://schemas.microsoft.com/office/drawing/2014/main" id="{AA24910B-EA86-4EC3-B70B-37AD94D9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Evidência atual: vendas reais em cenários simulados. A seleção mantém a família por sete ciclos; a revisão a cada ciclo ainda precisa de avaliação.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74399-2AF3-4650-9499-D7D350E42F8B}"/>
              </a:ext>
            </a:extLst>
          </p:cNvPr>
          <p:cNvGraphicFramePr/>
          <p:nvPr/>
        </p:nvGraphicFramePr>
        <p:xfrm>
          <a:off xmlns:a="http://schemas.openxmlformats.org/drawingml/2006/main" x="609600" y="236220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57350"/>
                <a:gridCol w="4248150"/>
                <a:gridCol w="5067300"/>
              </a:tblGrid>
              <a:tr h="4191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Tema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Ponto a alinhar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Direcionamento proposto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T w="5715">
                      <a:solidFill>
                        <a:srgbClr val="D8E1E7"/>
                      </a:solidFill>
                      <a:prstDash val="solid"/>
                    </a:lnT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E8EFF2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Contribuição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O que demonstra o valor do AIPE como metodologia?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Comparar decisões rastreáveis com uma referência competitiva, por custo e atendimento.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Operação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A revisão a cada ciclo entra na evidência principal?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Consolidar a análise atual e avaliar uma versão sequencial mínima, com estado contínuo.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Qual configuração e quais dados serão reservados?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Fixar a comparação principal e separar desenvolvimento de confirmação independente.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  <a:tr h="723900"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6D70"/>
                          </a:solidFill>
                          <a:latin typeface="Arial"/>
                          <a:ea typeface="Arial"/>
                          <a:cs typeface="Arial"/>
                        </a:rPr>
                        <a:t>Fechamento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8E1E7"/>
                      </a:solidFill>
                      <a:prstDash val="solid"/>
                    </a:lnL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Qual recorte sustenta a defesa e o artigo?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 wrap="square" lIns="11430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D43"/>
                          </a:solidFill>
                          <a:latin typeface="Arial"/>
                          <a:ea typeface="Arial"/>
                          <a:cs typeface="Arial"/>
                        </a:rPr>
                        <a:t>Dissertação cobre método e limites. Artigo concentra uma contribuição delimitada.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8E1E7"/>
                      </a:solidFill>
                      <a:prstDash val="solid"/>
                    </a:lnR>
                    <a:lnB w="5715">
                      <a:solidFill>
                        <a:srgbClr val="D8E1E7"/>
                      </a:solidFill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meeting-result">
            <a:extLst xmlns:a="http://schemas.openxmlformats.org/drawingml/2006/main">
              <a:ext uri="{FF2B5EF4-FFF2-40B4-BE49-F238E27FC236}">
                <a16:creationId xmlns:a16="http://schemas.microsoft.com/office/drawing/2014/main" id="{3FDC5DBF-F75C-4AE6-BFE9-0A0CF890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6D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D70"/>
                </a:solidFill>
                <a:latin typeface="Arial"/>
                <a:ea typeface="Arial"/>
                <a:cs typeface="Arial"/>
              </a:rPr>
              <a:t>Saída esperada: escopo mínimo, comparação principal e critérios para concluir o trabalho.</a:t>
            </a:r>
          </a:p>
        </p:txBody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DDA28C42-5DCC-419A-80D8-8F9EDAF0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Matheus Inácio Batista Santos, 16/10/2026</a:t>
            </a:r>
          </a:p>
        </p:txBody>
      </p:sp>
    </p:spTree>
    <p:extLst>
      <p:ext uri="{BB962C8B-B14F-4D97-AF65-F5344CB8AC3E}">
        <p14:creationId xmlns:p14="http://schemas.microsoft.com/office/powerpoint/2010/main" val="907633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2026-10-16T16:24:28.8120000Z</dcterms:created>
  <dcterms:modified xsi:type="dcterms:W3CDTF">2026-10-16T16:24:28.8130000Z</dcterms:modified>
</coreProperties>
</file>