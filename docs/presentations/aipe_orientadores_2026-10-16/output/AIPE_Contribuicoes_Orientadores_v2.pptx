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3779a24fa4d23" /><Relationship Type="http://schemas.openxmlformats.org/officeDocument/2006/relationships/extended-properties" Target="/docProps/app.xml" Id="Ra4a056dddf244df6" /><Relationship Type="http://schemas.openxmlformats.org/officeDocument/2006/relationships/officeDocument" Target="/ppt/presentation.xml" Id="Re169cf35aa38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7d362291943b5"/>
  </p:sldMasterIdLst>
  <p:notesMasterIdLst>
    <p:notesMasterId xmlns:r="http://schemas.openxmlformats.org/officeDocument/2006/relationships" r:id="Rf2ffd01f0dab4634"/>
  </p:notesMasterIdLst>
  <p:sldIdLst>
    <p:sldId xmlns:r="http://schemas.openxmlformats.org/officeDocument/2006/relationships" id="256" r:id="R0e8fd48f47f64d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ccc17d00e4029" /><Relationship Type="http://schemas.openxmlformats.org/officeDocument/2006/relationships/slideMaster" Target="/ppt/slideMasters/slideMaster1.xml" Id="R5ef7d362291943b5" /><Relationship Type="http://schemas.openxmlformats.org/officeDocument/2006/relationships/notesMaster" Target="/ppt/notesMasters/notesMaster1.xml" Id="Rf2ffd01f0dab4634" /><Relationship Type="http://schemas.openxmlformats.org/officeDocument/2006/relationships/presProps" Target="/ppt/presProps.xml" Id="R6c5222228e0b4781" /><Relationship Type="http://schemas.openxmlformats.org/officeDocument/2006/relationships/tableStyles" Target="/ppt/tableStyles.xml" Id="R015f2fd9451f4a00" /><Relationship Type="http://schemas.openxmlformats.org/officeDocument/2006/relationships/slide" Target="/ppt/slides/slide1.xml" Id="R0e8fd48f47f6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719ab301d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703b7dc85447f" /><Relationship Type="http://schemas.openxmlformats.org/officeDocument/2006/relationships/notesMaster" Target="/ppt/notesMasters/notesMaster1.xml" Id="Rd062073c9421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CONTRIBUIÇÕES PARA DISCUSSÃO COM OS ORIENTADORES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Formulação central adotada pelo autor</a:t>
            </a:r>
          </a:p>
          <a:p xmlns:a="http://schemas.openxmlformats.org/drawingml/2006/main">
            <a:r>
              <a:t>O AIPE propõe uma metodologia modular de seleção contextual de políticas de reposição, que liga informação disponível, evidência operacional, recomendação e diagnóstico para apoiar o gerente na avaliação de custos evitáveis e atendimento.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Contribuição metodológica principal</a:t>
            </a:r>
          </a:p>
          <a:p xmlns:a="http://schemas.openxmlformats.org/drawingml/2006/main">
            <a:r>
              <a:t>O procedimento organiza responsabilidades e contratos entre módulos, permite substituir implementações preservando informação e objetivo e registra como avaliar a recomendação. A demonstração deve mostrar que esses contratos tornam as comparações reproduzíveis e úteis para delimitar quando contextualizar. A modularidade é um contrato proposto; o estudo exercita sobretudo políticas e seletores, mantendo representação e ambiente. Não alegar substituição arbitrária validada de todos os módulos. A rastreabilidade já existe parcialmente; parâmetros finais, trajetórias e artefatos completos ainda precisam de persistência.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Contribuição decisória como sustentação</a:t>
            </a:r>
          </a:p>
          <a:p xmlns:a="http://schemas.openxmlformats.org/drawingml/2006/main">
            <a:r>
              <a:t>O Policy Selection Engine (PSE), módulo de seleção, admite associação por perfil de entrada e estimação supervisionada. Nas aplicações atuais, os perfis são derivados do histórico. Comparar essas instanciações sob referências competitivas permite estudar o valor da escolha contextual, inclusive quando conservar a referência é preferível. Seleção por instância, classificação, previsão de consequências e recuo têm antecedentes; os componentes isolados não são apresentados como invenções do AIPE.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Contribuição analítica como sustentação</a:t>
            </a:r>
          </a:p>
          <a:p xmlns:a="http://schemas.openxmlformats.org/drawingml/2006/main">
            <a:r>
              <a:t>Combinar avaliação operacional e limites retrospectivos permite distinguir erro de escolha, falta de candidata adequada no portfólio e impossibilidade física nas condições do cenário. Esse diagnóstico informa qual módulo ou condição revisar. As categorias são condicionais às hipóteses do simulador e não estabelecem causas de rupturas na empresa. Os oráculos são referências retrospectivas, não políticas executáveis. Não se reivindica nova teoria ou nova métrica pela simples utilização desses limites; a contribuição pretendida está em seu papel no procedimento de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Contribuição empírica aplicada</a:t>
            </a:r>
          </a:p>
          <a:p xmlns:a="http://schemas.openxmlformats.org/drawingml/2006/main">
            <a:r>
              <a:t>A base empresarial brasileira fornece vendas observadas em um contexto real, que podem omitir demanda censurada por ruptura, e o M5 fornece um referencial público. A avaliação preserva análises separadas e permite examinar heterogeneidade, deteriorações e concentração dos ganhos. Ter duas bases não garante generalização. Custos e estoques iniciais são cenários; os resultados não comprovam economia realizada em reais. O piloto influenciou o desenvolvimento, exigindo confirmação independente. O valor contextual da decisão deve ser julgado pelo gerente com magnitude, incerteza e alternativas visíveis.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Extensões a discutir</a:t>
            </a:r>
          </a:p>
          <a:p xmlns:a="http://schemas.openxmlformats.org/drawingml/2006/main">
            <a:r>
              <a:t>Ciclo de análise, revisão, horizonte, janela histórica e atualização dos modelos são parâmetros do desenho. A empresa-fonte relata revisão por ciclo. A execução atual mantém a família durante sete ciclos de teste; a avaliação sequencial parametrizada ainda não foi realizada e exige continuidade do estoque e pedidos em trânsito. Decidir com os orientadores se essa avaliação é essencial à contribuição principal ou ficará como desenvolvimento posterior. Uso efetivo por gerentes também exige avaliação própria.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Perguntas de encerramento</a:t>
            </a:r>
          </a:p>
          <a:p xmlns:a="http://schemas.openxmlformats.org/drawingml/2006/main">
            <a:r>
              <a:t>A contribuição central adotada é a metodologia AIPE. Quais comparações com os antecedentes próximos a distinguem? Que evidência é essencial para a banca e qual recorte é suficiente para o artigo? Manter as demais contribuições como sustentação da mesma metodologia, sem tratar cada componente conhecido como inovação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LOCAIS, 16/10/2026</a:t>
            </a:r>
          </a:p>
          <a:p xmlns:a="http://schemas.openxmlformats.org/drawingml/2006/main">
            <a:r>
              <a:t>C:/Users/mathe/mestrado/docs/supply_chain_analytics_article/manuscript_ptbr.tex</a:t>
            </a:r>
          </a:p>
          <a:p xmlns:a="http://schemas.openxmlformats.org/drawingml/2006/main">
            <a:r>
              <a:t>C:/Users/mathe/mestrado/docs/master_proposal/capitulos/introducao.tex</a:t>
            </a:r>
          </a:p>
          <a:p xmlns:a="http://schemas.openxmlformats.org/drawingml/2006/main">
            <a:r>
              <a:t>C:/Users/mathe/mestrado/docs/master_proposal/capitulos/proposta.tex</a:t>
            </a:r>
          </a:p>
          <a:p xmlns:a="http://schemas.openxmlformats.org/drawingml/2006/main">
            <a:r>
              <a:t>C:/Users/mathe/mestrado/docs/operations/PROTOCOLO_CIENTIFICO_AIPE_R1.md</a:t>
            </a:r>
          </a:p>
          <a:p xmlns:a="http://schemas.openxmlformats.org/drawingml/2006/main">
            <a:r>
              <a:t>C:/Users/mathe/mestrado/docs/academic_contract_revision_2026-10-16/FECHAMENTO.md</a:t>
            </a:r>
          </a:p>
          <a:p xmlns:a="http://schemas.openxmlformats.org/drawingml/2006/main">
            <a:r>
              <a:t>C:/Users/mathe/mestrado/docs/academic_contributions_revision_2026-10-16/CONTRATO.md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c5bece0274e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0e3e6d36948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8ac77f66f49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2740fda3c4a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c92ba3fe44b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3b81010a640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92D9A9-1279-4832-BE73-1F3CA2D91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5954FA-4F82-44D3-95E7-5A20BD1C89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9C2487-B393-46A3-8BB6-37342D234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353728-CAB4-4E37-8051-B19F006AF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A04D02-6E38-4DE7-AEF6-842BA4705D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9D3BD4-A8FD-47FC-A95C-8A8E21291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D9341C-671C-4823-AA2F-3A3B7B323A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1E07A0-C2CA-4388-8402-0D3AD24896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7F9403-1624-4565-8F78-905D22F84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FA280C-000C-4563-A3B1-7585AE7ABB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eeb703e8c45e5" /><Relationship Type="http://schemas.openxmlformats.org/officeDocument/2006/relationships/slideLayout" Target="/ppt/slideLayouts/slideLayout1.xml" Id="R4e326e42959e460e" /><Relationship Type="http://schemas.openxmlformats.org/officeDocument/2006/relationships/slideLayout" Target="/ppt/slideLayouts/slideLayout2.xml" Id="R645f0f8fff5d45a3" /><Relationship Type="http://schemas.openxmlformats.org/officeDocument/2006/relationships/slideLayout" Target="/ppt/slideLayouts/slideLayout3.xml" Id="R46577215df1f4c1c" /><Relationship Type="http://schemas.openxmlformats.org/officeDocument/2006/relationships/slideLayout" Target="/ppt/slideLayouts/slideLayout4.xml" Id="R56b501a9cc3e44d3" /><Relationship Type="http://schemas.openxmlformats.org/officeDocument/2006/relationships/slideLayout" Target="/ppt/slideLayouts/slideLayout5.xml" Id="Rd5558e31b4684d07" /><Relationship Type="http://schemas.openxmlformats.org/officeDocument/2006/relationships/slideLayout" Target="/ppt/slideLayouts/slideLayout6.xml" Id="R758e62a8266f4c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26e42959e460e"/>
    <p:sldLayoutId xmlns:r="http://schemas.openxmlformats.org/officeDocument/2006/relationships" id="2147483650" r:id="R645f0f8fff5d45a3"/>
    <p:sldLayoutId xmlns:r="http://schemas.openxmlformats.org/officeDocument/2006/relationships" id="2147483651" r:id="R46577215df1f4c1c"/>
    <p:sldLayoutId xmlns:r="http://schemas.openxmlformats.org/officeDocument/2006/relationships" id="2147483652" r:id="R56b501a9cc3e44d3"/>
    <p:sldLayoutId xmlns:r="http://schemas.openxmlformats.org/officeDocument/2006/relationships" id="2147483653" r:id="Rd5558e31b4684d07"/>
    <p:sldLayoutId xmlns:r="http://schemas.openxmlformats.org/officeDocument/2006/relationships" id="2147483654" r:id="R758e62a8266f4c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da64bd5b348e0" /><Relationship Type="http://schemas.openxmlformats.org/officeDocument/2006/relationships/notesSlide" Target="/ppt/notesSlides/notesSlide1.xml" Id="R139c1c80a96042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6905E25-8D5E-49C5-A0DD-84AD318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Contribuições do AIPE</a:t>
            </a:r>
          </a:p>
        </p:txBody>
      </p:sp>
      <p:sp>
        <p:nvSpPr>
          <p:cNvPr id="2" name="objective">
            <a:extLst xmlns:a="http://schemas.openxmlformats.org/drawingml/2006/main">
              <a:ext uri="{FF2B5EF4-FFF2-40B4-BE49-F238E27FC236}">
                <a16:creationId xmlns:a16="http://schemas.microsoft.com/office/drawing/2014/main" id="{3FE938F4-55F5-4C7D-89A8-B6F126B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3"/>
                </a:solidFill>
                <a:latin typeface="Arial"/>
                <a:ea typeface="Arial"/>
                <a:cs typeface="Arial"/>
              </a:rPr>
              <a:t>Contribuição central: metodologia modular e rastreável de apoio ao gerente na escolha de políticas de reposição.</a:t>
            </a:r>
          </a:p>
        </p:txBody>
      </p:sp>
      <p:sp>
        <p:nvSpPr>
          <p:cNvPr id="3" name="evidence">
            <a:extLst xmlns:a="http://schemas.openxmlformats.org/drawingml/2006/main">
              <a:ext uri="{FF2B5EF4-FFF2-40B4-BE49-F238E27FC236}">
                <a16:creationId xmlns:a16="http://schemas.microsoft.com/office/drawing/2014/main" id="{D58CD79D-F00C-4F4E-8F0F-F3194ACB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Objetivo: reduzir custos evitáveis sem deterioração relevante do atendimento. A relevância depende do contexto.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871EF-2884-445D-9AE9-AB25A76B249A}"/>
              </a:ext>
            </a:extLst>
          </p:cNvPr>
          <p:cNvGraphicFramePr/>
          <p:nvPr/>
        </p:nvGraphicFramePr>
        <p:xfrm>
          <a:off xmlns:a="http://schemas.openxmlformats.org/drawingml/2006/main" x="609600" y="23622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809750"/>
                <a:gridCol w="4095750"/>
                <a:gridCol w="5067300"/>
              </a:tblGrid>
              <a:tr h="4191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Eixo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Papel no AIPE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Evidência e limites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Central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Metodologia modular e rastreável para apoiar a escolha de reposição.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Contratos explícitos e rastreabilidade ainda parcial.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Seleção contextual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Perfil ou estimação no PSE, módulo de seleção.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Comparar com a referência, declarando o escopo do serviço.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Diagnóstico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Separar seleção, portfólio e inviabilidade física.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Limites retrospectivos condicionados ao simulador.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Aplicações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Vendas reais da Bahia e benchmark M5.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Análises separadas para delimitar utilidade e condições de uso.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meeting-result">
            <a:extLst xmlns:a="http://schemas.openxmlformats.org/drawingml/2006/main">
              <a:ext uri="{FF2B5EF4-FFF2-40B4-BE49-F238E27FC236}">
                <a16:creationId xmlns:a16="http://schemas.microsoft.com/office/drawing/2014/main" id="{DC823741-8E33-48BE-B64B-98C2069D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6D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D70"/>
                </a:solidFill>
                <a:latin typeface="Arial"/>
                <a:ea typeface="Arial"/>
                <a:cs typeface="Arial"/>
              </a:rPr>
              <a:t>Discussão: comparadores próximos e evidência necessária para sustentar a contribuição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C8143734-95BB-4C24-A196-AEF84137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Matheus Inácio Batista Santos, 16/10/2026</a:t>
            </a:r>
          </a:p>
        </p:txBody>
      </p:sp>
    </p:spTree>
    <p:extLst>
      <p:ext uri="{BB962C8B-B14F-4D97-AF65-F5344CB8AC3E}">
        <p14:creationId xmlns:p14="http://schemas.microsoft.com/office/powerpoint/2010/main" val="2109346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2026-10-16T21:00:30.4260000Z</dcterms:created>
  <dcterms:modified xsi:type="dcterms:W3CDTF">2026-10-16T21:00:30.4260000Z</dcterms:modified>
</coreProperties>
</file>