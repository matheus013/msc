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d249de8dc1430e" /><Relationship Type="http://schemas.openxmlformats.org/officeDocument/2006/relationships/extended-properties" Target="/docProps/app.xml" Id="R642643887b0b4952" /><Relationship Type="http://schemas.openxmlformats.org/officeDocument/2006/relationships/officeDocument" Target="/ppt/presentation.xml" Id="R5b2be55e4d5b4b27" /></Relationships>
</file>

<file path=ppt/presentation.xml><?xml version="1.0" encoding="utf-8"?>
<p:presentation xmlns:p="http://schemas.openxmlformats.org/presentationml/2006/main">
  <p:sldMasterIdLst>
    <p:sldMasterId xmlns:r="http://schemas.openxmlformats.org/officeDocument/2006/relationships" id="2147483648" r:id="Rbb9f8e0cc9584e3d"/>
  </p:sldMasterIdLst>
  <p:notesMasterIdLst>
    <p:notesMasterId xmlns:r="http://schemas.openxmlformats.org/officeDocument/2006/relationships" r:id="Rde9df44a58944332"/>
  </p:notesMasterIdLst>
  <p:sldIdLst>
    <p:sldId xmlns:r="http://schemas.openxmlformats.org/officeDocument/2006/relationships" id="256" r:id="Ra7d8424ff8984f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5d29a945be4655" /><Relationship Type="http://schemas.openxmlformats.org/officeDocument/2006/relationships/slideMaster" Target="/ppt/slideMasters/slideMaster1.xml" Id="Rbb9f8e0cc9584e3d" /><Relationship Type="http://schemas.openxmlformats.org/officeDocument/2006/relationships/notesMaster" Target="/ppt/notesMasters/notesMaster1.xml" Id="Rde9df44a58944332" /><Relationship Type="http://schemas.openxmlformats.org/officeDocument/2006/relationships/presProps" Target="/ppt/presProps.xml" Id="R421016858b41456d" /><Relationship Type="http://schemas.openxmlformats.org/officeDocument/2006/relationships/tableStyles" Target="/ppt/tableStyles.xml" Id="R1b7e1c3e64784171" /><Relationship Type="http://schemas.openxmlformats.org/officeDocument/2006/relationships/slide" Target="/ppt/slides/slide1.xml" Id="Ra7d8424ff8984f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644b7e87544e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78131aa26c4a35" /><Relationship Type="http://schemas.openxmlformats.org/officeDocument/2006/relationships/notesMaster" Target="/ppt/notesMasters/notesMaster1.xml" Id="R10ad02ffb64244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CONTRIBUIÇÕES PARA DISCUSSÃO COM OS ORIENTADORES</a:t>
            </a:r>
          </a:p>
          <a:p xmlns:a="http://schemas.openxmlformats.org/drawingml/2006/main">
            <a:r>
              <a:t/>
            </a:r>
          </a:p>
          <a:p xmlns:a="http://schemas.openxmlformats.org/drawingml/2006/main">
            <a:r>
              <a:t>Formulação central sugerida</a:t>
            </a:r>
          </a:p>
          <a:p xmlns:a="http://schemas.openxmlformats.org/drawingml/2006/main">
            <a:r>
              <a:t>O AIPE propõe uma metodologia modular de seleção contextual de políticas de reposição, que liga informação disponível, evidência operacional, recomendação e diagnóstico para apoiar o gerente na avaliação de custos evitáveis e atendimento.</a:t>
            </a:r>
          </a:p>
          <a:p xmlns:a="http://schemas.openxmlformats.org/drawingml/2006/main">
            <a:r>
              <a:t/>
            </a:r>
          </a:p>
          <a:p xmlns:a="http://schemas.openxmlformats.org/drawingml/2006/main">
            <a:r>
              <a:t>1. Contribuição metodológica principal</a:t>
            </a:r>
          </a:p>
          <a:p xmlns:a="http://schemas.openxmlformats.org/drawingml/2006/main">
            <a:r>
              <a:t>O procedimento organiza responsabilidades e contratos entre módulos, permite substituir implementações preservando informação e objetivo e registra como avaliar a recomendação. A demonstração deve mostrar que esses contratos tornam as comparações reproduzíveis e úteis para delimitar quando contextualizar. A modularidade é um contrato proposto; o estudo exercita sobretudo políticas e seletores, mantendo representação e ambiente. Não alegar substituição arbitrária validada de todos os módulos. A rastreabilidade já existe parcialmente; parâmetros finais, trajetórias e artefatos completos ainda precisam de persistência.</a:t>
            </a:r>
          </a:p>
          <a:p xmlns:a="http://schemas.openxmlformats.org/drawingml/2006/main">
            <a:r>
              <a:t/>
            </a:r>
          </a:p>
          <a:p xmlns:a="http://schemas.openxmlformats.org/drawingml/2006/main">
            <a:r>
              <a:t>2. Contribuição decisória como sustentação</a:t>
            </a:r>
          </a:p>
          <a:p xmlns:a="http://schemas.openxmlformats.org/drawingml/2006/main">
            <a:r>
              <a:t>O Policy Selection Engine (PSE), módulo de seleção, admite associação por perfil de entrada e estimação supervisionada. Nas aplicações atuais, os perfis são derivados do histórico. Comparar essas instanciações sob referências competitivas permite estudar o valor da escolha contextual, inclusive quando conservar a referência é preferível. Seleção por instância, classificação, previsão de consequências e recuo têm antecedentes; os componentes isolados não são apresentados como invenções do AIPE.</a:t>
            </a:r>
          </a:p>
          <a:p xmlns:a="http://schemas.openxmlformats.org/drawingml/2006/main">
            <a:r>
              <a:t/>
            </a:r>
          </a:p>
          <a:p xmlns:a="http://schemas.openxmlformats.org/drawingml/2006/main">
            <a:r>
              <a:t>3. Contribuição analítica como sustentação</a:t>
            </a:r>
          </a:p>
          <a:p xmlns:a="http://schemas.openxmlformats.org/drawingml/2006/main">
            <a:r>
              <a:t>Combinar avaliação operacional e limites retrospectivos permite distinguir erro de escolha, falta de candidata adequada no portfólio e impossibilidade física nas condições do cenário. Esse diagnóstico informa qual módulo ou condição revisar. Os oráculos são referências retrospectivas, não políticas executáveis. Não se reivindica nova teoria ou nova métrica pela simples utilização desses limites; a contribuição pretendida está em seu papel no procedimento de decisão.</a:t>
            </a:r>
          </a:p>
          <a:p xmlns:a="http://schemas.openxmlformats.org/drawingml/2006/main">
            <a:r>
              <a:t/>
            </a:r>
          </a:p>
          <a:p xmlns:a="http://schemas.openxmlformats.org/drawingml/2006/main">
            <a:r>
              <a:t>4. Contribuição empírica aplicada</a:t>
            </a:r>
          </a:p>
          <a:p xmlns:a="http://schemas.openxmlformats.org/drawingml/2006/main">
            <a:r>
              <a:t>A base empresarial brasileira fornece demanda observada como vendas em um contexto real, e o M5 fornece um referencial público. A avaliação preserva análises separadas e permite examinar heterogeneidade, deteriorações e concentração dos ganhos. Ter duas bases não garante generalização. Custos e estoques iniciais são cenários; os resultados não comprovam economia realizada em reais. O piloto influenciou o desenvolvimento, exigindo confirmação independente. O valor contextual da decisão deve ser julgado pelo gerente com magnitude, incerteza e alternativas visíveis.</a:t>
            </a:r>
          </a:p>
          <a:p xmlns:a="http://schemas.openxmlformats.org/drawingml/2006/main">
            <a:r>
              <a:t/>
            </a:r>
          </a:p>
          <a:p xmlns:a="http://schemas.openxmlformats.org/drawingml/2006/main">
            <a:r>
              <a:t>Extensões a discutir</a:t>
            </a:r>
          </a:p>
          <a:p xmlns:a="http://schemas.openxmlformats.org/drawingml/2006/main">
            <a:r>
              <a:t>Ciclo de análise, revisão, horizonte, janela histórica e atualização dos modelos são parâmetros do desenho. A empresa-fonte relata revisão por ciclo. A execução atual mantém a família durante sete ciclos de teste; a avaliação sequencial parametrizada ainda não foi realizada e exige continuidade do estoque e pedidos em trânsito. Decidir com os orientadores se essa avaliação é essencial à contribuição principal ou ficará como desenvolvimento posterior. Uso efetivo por gerentes também exige avaliação própria.</a:t>
            </a:r>
          </a:p>
          <a:p xmlns:a="http://schemas.openxmlformats.org/drawingml/2006/main">
            <a:r>
              <a:t/>
            </a:r>
          </a:p>
          <a:p xmlns:a="http://schemas.openxmlformats.org/drawingml/2006/main">
            <a:r>
              <a:t>Perguntas de encerramento</a:t>
            </a:r>
          </a:p>
          <a:p xmlns:a="http://schemas.openxmlformats.org/drawingml/2006/main">
            <a:r>
              <a:t>Qual é a contribuição principal defendida pelo mestrado? Quais comparações com os antecedentes próximos a distinguem? Que evidência é essencial para a banca e qual recorte é suficiente para o artigo? Manter as demais contribuições como sustentação da mesma metodologia, sem tratar cada componente conhecido como inovação independente.</a:t>
            </a:r>
          </a:p>
          <a:p xmlns:a="http://schemas.openxmlformats.org/drawingml/2006/main">
            <a:r>
              <a:t/>
            </a:r>
          </a:p>
          <a:p xmlns:a="http://schemas.openxmlformats.org/drawingml/2006/main">
            <a:r>
              <a:t>FONTES LOCAIS, 16/10/2026</a:t>
            </a:r>
          </a:p>
          <a:p xmlns:a="http://schemas.openxmlformats.org/drawingml/2006/main">
            <a:r>
              <a:t>C:/Users/mathe/mestrado/docs/supply_chain_analytics_article/manuscript_ptbr.tex</a:t>
            </a:r>
          </a:p>
          <a:p xmlns:a="http://schemas.openxmlformats.org/drawingml/2006/main">
            <a:r>
              <a:t>C:/Users/mathe/mestrado/docs/master_proposal/capitulos/introducao.tex</a:t>
            </a:r>
          </a:p>
          <a:p xmlns:a="http://schemas.openxmlformats.org/drawingml/2006/main">
            <a:r>
              <a:t>C:/Users/mathe/mestrado/docs/master_proposal/capitulos/proposta.tex</a:t>
            </a:r>
          </a:p>
          <a:p xmlns:a="http://schemas.openxmlformats.org/drawingml/2006/main">
            <a:r>
              <a:t>C:/Users/mathe/mestrado/docs/operations/PROTOCOLO_CIENTIFICO_AIPE_R1.md</a:t>
            </a:r>
          </a:p>
          <a:p xmlns:a="http://schemas.openxmlformats.org/drawingml/2006/main">
            <a:r>
              <a:t>C:/Users/mathe/mestrado/docs/academic_contract_revision_2026-10-16/FECHAMENTO.md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412f6260bb4a3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fada646eb7e4ce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f2284217af4a5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0256bceaea495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cda2792d49b4c4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df0ae16f92a4f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D55279-EA9D-4CBF-A45A-F6B33C3C73F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3521F8F-261F-433F-9561-202CF9300F3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2D246DC-02C1-459E-BFA1-8ACA6D72EE7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15B335-7415-4C5C-8B80-DD9317139D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BC2DF83-F402-42FB-B4CA-3026B4CE41B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F3D949E-1193-4D62-8DBB-32CFDF177D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20B4D3F-2E85-4423-BBA0-3DF28ED2D7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CB271A8-1CD8-4869-804B-DBDAB3A772F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E1C02A-92F3-4A32-A5E6-508C703587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71EBB2E-454A-4AD6-8D03-3D2799F822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1437e87aa34459" /><Relationship Type="http://schemas.openxmlformats.org/officeDocument/2006/relationships/slideLayout" Target="/ppt/slideLayouts/slideLayout1.xml" Id="Reec7e7ca70704ccc" /><Relationship Type="http://schemas.openxmlformats.org/officeDocument/2006/relationships/slideLayout" Target="/ppt/slideLayouts/slideLayout2.xml" Id="R85432e0021494fad" /><Relationship Type="http://schemas.openxmlformats.org/officeDocument/2006/relationships/slideLayout" Target="/ppt/slideLayouts/slideLayout3.xml" Id="Rd777298952fc48d0" /><Relationship Type="http://schemas.openxmlformats.org/officeDocument/2006/relationships/slideLayout" Target="/ppt/slideLayouts/slideLayout4.xml" Id="R885635da9b7f4731" /><Relationship Type="http://schemas.openxmlformats.org/officeDocument/2006/relationships/slideLayout" Target="/ppt/slideLayouts/slideLayout5.xml" Id="Rdf55c92d32dc44e6" /><Relationship Type="http://schemas.openxmlformats.org/officeDocument/2006/relationships/slideLayout" Target="/ppt/slideLayouts/slideLayout6.xml" Id="Rc6362d4b5d8b43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c7e7ca70704ccc"/>
    <p:sldLayoutId xmlns:r="http://schemas.openxmlformats.org/officeDocument/2006/relationships" id="2147483650" r:id="R85432e0021494fad"/>
    <p:sldLayoutId xmlns:r="http://schemas.openxmlformats.org/officeDocument/2006/relationships" id="2147483651" r:id="Rd777298952fc48d0"/>
    <p:sldLayoutId xmlns:r="http://schemas.openxmlformats.org/officeDocument/2006/relationships" id="2147483652" r:id="R885635da9b7f4731"/>
    <p:sldLayoutId xmlns:r="http://schemas.openxmlformats.org/officeDocument/2006/relationships" id="2147483653" r:id="Rdf55c92d32dc44e6"/>
    <p:sldLayoutId xmlns:r="http://schemas.openxmlformats.org/officeDocument/2006/relationships" id="2147483654" r:id="Rc6362d4b5d8b43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61f85bd91f34111" /><Relationship Type="http://schemas.openxmlformats.org/officeDocument/2006/relationships/notesSlide" Target="/ppt/notesSlides/notesSlide1.xml" Id="R7ffe08ff2f774a02" /></Relationships>
</file>

<file path=ppt/slides/slide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2D883F78-B43B-4D8F-A5DE-0B5C55CA06D3}"/>
              </a:ext>
            </a:extLst>
          </p:cNvPr>
          <p:cNvSpPr>
            <a:spLocks xmlns:a="http://schemas.openxmlformats.org/drawingml/2006/main" noGrp="1"/>
          </p:cNvSpPr>
          <p:nvPr/>
        </p:nvSpPr>
        <p:spPr>
          <a:xfrm xmlns:a="http://schemas.openxmlformats.org/drawingml/2006/main">
            <a:off x="609600" y="342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2D43"/>
                </a:solidFill>
                <a:latin typeface="Arial"/>
                <a:ea typeface="Arial"/>
                <a:cs typeface="Arial"/>
              </a:defRPr>
            </a:defPPr>
          </a:lstStyle>
          <a:p xmlns:a="http://schemas.openxmlformats.org/drawingml/2006/main">
            <a:pPr>
              <a:defRPr sz="3450" b="1">
                <a:solidFill>
                  <a:srgbClr val="142D43"/>
                </a:solidFill>
                <a:latin typeface="Arial"/>
                <a:ea typeface="Arial"/>
                <a:cs typeface="Arial"/>
              </a:defRPr>
            </a:pPr>
            <a:r>
              <a:rPr sz="3450" b="1">
                <a:solidFill>
                  <a:srgbClr val="142D43"/>
                </a:solidFill>
                <a:latin typeface="Arial"/>
                <a:ea typeface="Arial"/>
                <a:cs typeface="Arial"/>
              </a:rPr>
              <a:t>Contribuições do AIPE</a:t>
            </a:r>
          </a:p>
        </p:txBody>
      </p:sp>
      <p:sp>
        <p:nvSpPr>
          <p:cNvPr id="2" name="objective">
            <a:extLst xmlns:a="http://schemas.openxmlformats.org/drawingml/2006/main">
              <a:ext uri="{FF2B5EF4-FFF2-40B4-BE49-F238E27FC236}">
                <a16:creationId xmlns:a16="http://schemas.microsoft.com/office/drawing/2014/main" id="{F5927B9D-2F63-499B-B39B-91265265244C}"/>
              </a:ext>
            </a:extLst>
          </p:cNvPr>
          <p:cNvSpPr>
            <a:spLocks xmlns:a="http://schemas.openxmlformats.org/drawingml/2006/main" noGrp="1"/>
          </p:cNvSpPr>
          <p:nvPr/>
        </p:nvSpPr>
        <p:spPr>
          <a:xfrm xmlns:a="http://schemas.openxmlformats.org/drawingml/2006/main">
            <a:off x="609600" y="10287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42D43"/>
                </a:solidFill>
                <a:latin typeface="Arial"/>
                <a:ea typeface="Arial"/>
                <a:cs typeface="Arial"/>
              </a:defRPr>
            </a:defPPr>
          </a:lstStyle>
          <a:p xmlns:a="http://schemas.openxmlformats.org/drawingml/2006/main">
            <a:pPr>
              <a:defRPr sz="2100" b="0">
                <a:solidFill>
                  <a:srgbClr val="142D43"/>
                </a:solidFill>
                <a:latin typeface="Arial"/>
                <a:ea typeface="Arial"/>
                <a:cs typeface="Arial"/>
              </a:defRPr>
            </a:pPr>
            <a:r>
              <a:rPr sz="2100" b="0">
                <a:solidFill>
                  <a:srgbClr val="142D43"/>
                </a:solidFill>
                <a:latin typeface="Arial"/>
                <a:ea typeface="Arial"/>
                <a:cs typeface="Arial"/>
              </a:rPr>
              <a:t>Uma metodologia modular para apoiar decisões de reposição, com custo, atendimento e rastreabilidade.</a:t>
            </a:r>
          </a:p>
        </p:txBody>
      </p:sp>
      <p:sp>
        <p:nvSpPr>
          <p:cNvPr id="3" name="evidence">
            <a:extLst xmlns:a="http://schemas.openxmlformats.org/drawingml/2006/main">
              <a:ext uri="{FF2B5EF4-FFF2-40B4-BE49-F238E27FC236}">
                <a16:creationId xmlns:a16="http://schemas.microsoft.com/office/drawing/2014/main" id="{284CC6D4-FAEB-4DA4-99C5-7E5F070BDD31}"/>
              </a:ext>
            </a:extLst>
          </p:cNvPr>
          <p:cNvSpPr>
            <a:spLocks xmlns:a="http://schemas.openxmlformats.org/drawingml/2006/main" noGrp="1"/>
          </p:cNvSpPr>
          <p:nvPr/>
        </p:nvSpPr>
        <p:spPr>
          <a:xfrm xmlns:a="http://schemas.openxmlformats.org/drawingml/2006/main">
            <a:off x="609600" y="16764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575"/>
                </a:solidFill>
                <a:latin typeface="Arial"/>
                <a:ea typeface="Arial"/>
                <a:cs typeface="Arial"/>
              </a:defRPr>
            </a:defPPr>
          </a:lstStyle>
          <a:p xmlns:a="http://schemas.openxmlformats.org/drawingml/2006/main">
            <a:pPr>
              <a:defRPr sz="1725" b="0">
                <a:solidFill>
                  <a:srgbClr val="526575"/>
                </a:solidFill>
                <a:latin typeface="Arial"/>
                <a:ea typeface="Arial"/>
                <a:cs typeface="Arial"/>
              </a:defRPr>
            </a:pPr>
            <a:r>
              <a:rPr sz="1725" b="0">
                <a:solidFill>
                  <a:srgbClr val="526575"/>
                </a:solidFill>
                <a:latin typeface="Arial"/>
                <a:ea typeface="Arial"/>
                <a:cs typeface="Arial"/>
              </a:rPr>
              <a:t>Contribuição central: organizar como recomendar e avaliar políticas. Cada componente precisa de evidência e comparação com antecedentes.</a:t>
            </a:r>
          </a:p>
        </p:txBody>
      </p:sp>
      <p:graphicFrame>
        <p:nvGraphicFramePr>
          <p:cNvPr id="4" name="">
            <a:extLst xmlns:a="http://schemas.openxmlformats.org/drawingml/2006/main">
              <a:ext uri="{FF2B5EF4-FFF2-40B4-BE49-F238E27FC236}">
                <a16:creationId xmlns:a16="http://schemas.microsoft.com/office/drawing/2014/main" id="{CF74FE5F-5CCE-4277-A313-33837AF99536}"/>
              </a:ext>
            </a:extLst>
          </p:cNvPr>
          <p:cNvGraphicFramePr/>
          <p:nvPr/>
        </p:nvGraphicFramePr>
        <p:xfrm>
          <a:off xmlns:a="http://schemas.openxmlformats.org/drawingml/2006/main" x="609600" y="2362200"/>
          <a:ext xmlns:a="http://schemas.openxmlformats.org/drawingml/2006/main" cx="10972800" cy="3314700"/>
        </p:xfrm>
        <a:graphic xmlns:a="http://schemas.openxmlformats.org/drawingml/2006/main">
          <a:graphicData uri="http://schemas.openxmlformats.org/drawingml/2006/table">
            <a:tbl>
              <a:tblPr firstRow="0" firstCol="0" bandRow="0"/>
              <a:tblGrid>
                <a:gridCol w="1809750"/>
                <a:gridCol w="4095750"/>
                <a:gridCol w="5067300"/>
              </a:tblGrid>
              <a:tr h="419100">
                <a:tc>
                  <a:txBody>
                    <a:bodyPr wrap="square" lIns="114300" tIns="76200" rIns="133350" bIns="76200">
                      <a:noAutofit/>
                    </a:bodyPr>
                    <a:lstStyle/>
                    <a:p>
                      <a:r>
                        <a:rPr sz="1800" b="1">
                          <a:solidFill>
                            <a:srgbClr val="142D43"/>
                          </a:solidFill>
                          <a:latin typeface="Arial"/>
                          <a:ea typeface="Arial"/>
                          <a:cs typeface="Arial"/>
                        </a:rPr>
                        <a:t>Eixo</a:t>
                      </a:r>
                    </a:p>
                  </a:txBody>
                  <a:tcPr marL="91440" marR="91440" marT="45720" marB="45720" anchor="ctr">
                    <a:lnL w="5715">
                      <a:solidFill>
                        <a:srgbClr val="D8E1E7"/>
                      </a:solidFill>
                      <a:prstDash val="solid"/>
                    </a:lnL>
                    <a:lnR w="5715">
                      <a:solidFill>
                        <a:srgbClr val="D8E1E7"/>
                      </a:solidFill>
                      <a:prstDash val="solid"/>
                    </a:lnR>
                    <a:lnT w="5715">
                      <a:solidFill>
                        <a:srgbClr val="D8E1E7"/>
                      </a:solidFill>
                      <a:prstDash val="solid"/>
                    </a:lnT>
                    <a:lnB w="5715">
                      <a:solidFill>
                        <a:srgbClr val="D8E1E7"/>
                      </a:solidFill>
                      <a:prstDash val="solid"/>
                    </a:lnB>
                    <a:solidFill>
                      <a:srgbClr val="E8EFF2"/>
                    </a:solidFill>
                  </a:tcPr>
                </a:tc>
                <a:tc>
                  <a:txBody>
                    <a:bodyPr wrap="square" lIns="114300" tIns="76200" rIns="133350" bIns="76200">
                      <a:noAutofit/>
                    </a:bodyPr>
                    <a:lstStyle/>
                    <a:p>
                      <a:r>
                        <a:rPr sz="1800" b="1">
                          <a:solidFill>
                            <a:srgbClr val="142D43"/>
                          </a:solidFill>
                          <a:latin typeface="Arial"/>
                          <a:ea typeface="Arial"/>
                          <a:cs typeface="Arial"/>
                        </a:rPr>
                        <a:t>Contribuição proposta</a:t>
                      </a:r>
                    </a:p>
                  </a:txBody>
                  <a:tcPr marL="91440" marR="91440" marT="45720" marB="45720" anchor="ctr">
                    <a:lnR w="5715">
                      <a:solidFill>
                        <a:srgbClr val="D8E1E7"/>
                      </a:solidFill>
                      <a:prstDash val="solid"/>
                    </a:lnR>
                    <a:lnT w="5715">
                      <a:solidFill>
                        <a:srgbClr val="D8E1E7"/>
                      </a:solidFill>
                      <a:prstDash val="solid"/>
                    </a:lnT>
                    <a:lnB w="5715">
                      <a:solidFill>
                        <a:srgbClr val="D8E1E7"/>
                      </a:solidFill>
                      <a:prstDash val="solid"/>
                    </a:lnB>
                    <a:solidFill>
                      <a:srgbClr val="E8EFF2"/>
                    </a:solidFill>
                  </a:tcPr>
                </a:tc>
                <a:tc>
                  <a:txBody>
                    <a:bodyPr wrap="square" lIns="114300" tIns="76200" rIns="133350" bIns="76200">
                      <a:noAutofit/>
                    </a:bodyPr>
                    <a:lstStyle/>
                    <a:p>
                      <a:r>
                        <a:rPr sz="1800" b="1">
                          <a:solidFill>
                            <a:srgbClr val="142D43"/>
                          </a:solidFill>
                          <a:latin typeface="Arial"/>
                          <a:ea typeface="Arial"/>
                          <a:cs typeface="Arial"/>
                        </a:rPr>
                        <a:t>Como sustentar</a:t>
                      </a:r>
                    </a:p>
                  </a:txBody>
                  <a:tcPr marL="91440" marR="91440" marT="45720" marB="45720" anchor="ctr">
                    <a:lnR w="5715">
                      <a:solidFill>
                        <a:srgbClr val="D8E1E7"/>
                      </a:solidFill>
                      <a:prstDash val="solid"/>
                    </a:lnR>
                    <a:lnT w="5715">
                      <a:solidFill>
                        <a:srgbClr val="D8E1E7"/>
                      </a:solidFill>
                      <a:prstDash val="solid"/>
                    </a:lnT>
                    <a:lnB w="5715">
                      <a:solidFill>
                        <a:srgbClr val="D8E1E7"/>
                      </a:solidFill>
                      <a:prstDash val="solid"/>
                    </a:lnB>
                    <a:solidFill>
                      <a:srgbClr val="E8EFF2"/>
                    </a:solidFill>
                  </a:tcPr>
                </a:tc>
              </a:tr>
              <a:tr h="723900">
                <a:tc>
                  <a:txBody>
                    <a:bodyPr wrap="square" lIns="114300" tIns="76200" rIns="133350" bIns="76200">
                      <a:noAutofit/>
                    </a:bodyPr>
                    <a:lstStyle/>
                    <a:p>
                      <a:r>
                        <a:rPr sz="1725" b="1">
                          <a:solidFill>
                            <a:srgbClr val="146D70"/>
                          </a:solidFill>
                          <a:latin typeface="Arial"/>
                          <a:ea typeface="Arial"/>
                          <a:cs typeface="Arial"/>
                        </a:rPr>
                        <a:t>Método</a:t>
                      </a:r>
                    </a:p>
                  </a:txBody>
                  <a:tcPr marL="91440" marR="91440" marT="45720" marB="45720" anchor="ctr">
                    <a:lnL w="5715">
                      <a:solidFill>
                        <a:srgbClr val="D8E1E7"/>
                      </a:solidFill>
                      <a:prstDash val="solid"/>
                    </a:lnL>
                    <a:lnR w="5715">
                      <a:solidFill>
                        <a:srgbClr val="D8E1E7"/>
                      </a:solidFill>
                      <a:prstDash val="solid"/>
                    </a:lnR>
                    <a:lnB w="5715">
                      <a:solidFill>
                        <a:srgbClr val="D8E1E7"/>
                      </a:solidFill>
                      <a:prstDash val="solid"/>
                    </a:lnB>
                    <a:solidFill>
                      <a:srgbClr val="FAFBFC"/>
                    </a:solidFill>
                  </a:tcPr>
                </a:tc>
                <a:tc>
                  <a:txBody>
                    <a:bodyPr wrap="square" lIns="114300" tIns="76200" rIns="133350" bIns="76200">
                      <a:noAutofit/>
                    </a:bodyPr>
                    <a:lstStyle/>
                    <a:p>
                      <a:r>
                        <a:rPr sz="1725" b="0">
                          <a:solidFill>
                            <a:srgbClr val="142D43"/>
                          </a:solidFill>
                          <a:latin typeface="Arial"/>
                          <a:ea typeface="Arial"/>
                          <a:cs typeface="Arial"/>
                        </a:rPr>
                        <a:t>Contratos ligam contexto, evidência, seleção e avaliação.</a:t>
                      </a:r>
                    </a:p>
                  </a:txBody>
                  <a:tcPr marL="91440" marR="91440" marT="45720" marB="45720" anchor="ctr">
                    <a:lnR w="5715">
                      <a:solidFill>
                        <a:srgbClr val="D8E1E7"/>
                      </a:solidFill>
                      <a:prstDash val="solid"/>
                    </a:lnR>
                    <a:lnB w="5715">
                      <a:solidFill>
                        <a:srgbClr val="D8E1E7"/>
                      </a:solidFill>
                      <a:prstDash val="solid"/>
                    </a:lnB>
                    <a:solidFill>
                      <a:srgbClr val="FAFBFC"/>
                    </a:solidFill>
                  </a:tcPr>
                </a:tc>
                <a:tc>
                  <a:txBody>
                    <a:bodyPr wrap="square" lIns="114300" tIns="76200" rIns="133350" bIns="76200">
                      <a:noAutofit/>
                    </a:bodyPr>
                    <a:lstStyle/>
                    <a:p>
                      <a:r>
                        <a:rPr sz="1725" b="0">
                          <a:solidFill>
                            <a:srgbClr val="142D43"/>
                          </a:solidFill>
                          <a:latin typeface="Arial"/>
                          <a:ea typeface="Arial"/>
                          <a:cs typeface="Arial"/>
                        </a:rPr>
                        <a:t>Mostrar interfaces, rastreabilidade e limites de cada módulo.</a:t>
                      </a:r>
                    </a:p>
                  </a:txBody>
                  <a:tcPr marL="91440" marR="91440" marT="45720" marB="45720" anchor="ctr">
                    <a:lnR w="5715">
                      <a:solidFill>
                        <a:srgbClr val="D8E1E7"/>
                      </a:solidFill>
                      <a:prstDash val="solid"/>
                    </a:lnR>
                    <a:lnB w="5715">
                      <a:solidFill>
                        <a:srgbClr val="D8E1E7"/>
                      </a:solidFill>
                      <a:prstDash val="solid"/>
                    </a:lnB>
                    <a:solidFill>
                      <a:srgbClr val="FAFBFC"/>
                    </a:solidFill>
                  </a:tcPr>
                </a:tc>
              </a:tr>
              <a:tr h="723900">
                <a:tc>
                  <a:txBody>
                    <a:bodyPr wrap="square" lIns="114300" tIns="76200" rIns="133350" bIns="76200">
                      <a:noAutofit/>
                    </a:bodyPr>
                    <a:lstStyle/>
                    <a:p>
                      <a:r>
                        <a:rPr sz="1725" b="1">
                          <a:solidFill>
                            <a:srgbClr val="146D70"/>
                          </a:solidFill>
                          <a:latin typeface="Arial"/>
                          <a:ea typeface="Arial"/>
                          <a:cs typeface="Arial"/>
                        </a:rPr>
                        <a:t>Decisão</a:t>
                      </a:r>
                    </a:p>
                  </a:txBody>
                  <a:tcPr marL="91440" marR="91440" marT="45720" marB="45720" anchor="ctr">
                    <a:lnL w="5715">
                      <a:solidFill>
                        <a:srgbClr val="D8E1E7"/>
                      </a:solidFill>
                      <a:prstDash val="solid"/>
                    </a:lnL>
                    <a:lnR w="5715">
                      <a:solidFill>
                        <a:srgbClr val="D8E1E7"/>
                      </a:solidFill>
                      <a:prstDash val="solid"/>
                    </a:lnR>
                    <a:lnB w="5715">
                      <a:solidFill>
                        <a:srgbClr val="D8E1E7"/>
                      </a:solidFill>
                      <a:prstDash val="solid"/>
                    </a:lnB>
                    <a:solidFill>
                      <a:srgbClr val="FAFBFC"/>
                    </a:solidFill>
                  </a:tcPr>
                </a:tc>
                <a:tc>
                  <a:txBody>
                    <a:bodyPr wrap="square" lIns="114300" tIns="76200" rIns="133350" bIns="76200">
                      <a:noAutofit/>
                    </a:bodyPr>
                    <a:lstStyle/>
                    <a:p>
                      <a:r>
                        <a:rPr sz="1725" b="0">
                          <a:solidFill>
                            <a:srgbClr val="142D43"/>
                          </a:solidFill>
                          <a:latin typeface="Arial"/>
                          <a:ea typeface="Arial"/>
                          <a:cs typeface="Arial"/>
                        </a:rPr>
                        <a:t>O PSE recomenda por perfil ou por estimação.</a:t>
                      </a:r>
                    </a:p>
                  </a:txBody>
                  <a:tcPr marL="91440" marR="91440" marT="45720" marB="45720" anchor="ctr">
                    <a:lnR w="5715">
                      <a:solidFill>
                        <a:srgbClr val="D8E1E7"/>
                      </a:solidFill>
                      <a:prstDash val="solid"/>
                    </a:lnR>
                    <a:lnB w="5715">
                      <a:solidFill>
                        <a:srgbClr val="D8E1E7"/>
                      </a:solidFill>
                      <a:prstDash val="solid"/>
                    </a:lnB>
                    <a:solidFill>
                      <a:srgbClr val="FAFBFC"/>
                    </a:solidFill>
                  </a:tcPr>
                </a:tc>
                <a:tc>
                  <a:txBody>
                    <a:bodyPr wrap="square" lIns="114300" tIns="76200" rIns="133350" bIns="76200">
                      <a:noAutofit/>
                    </a:bodyPr>
                    <a:lstStyle/>
                    <a:p>
                      <a:r>
                        <a:rPr sz="1725" b="0">
                          <a:solidFill>
                            <a:srgbClr val="142D43"/>
                          </a:solidFill>
                          <a:latin typeface="Arial"/>
                          <a:ea typeface="Arial"/>
                          <a:cs typeface="Arial"/>
                        </a:rPr>
                        <a:t>Comparar as duas abordagens com uma referência global.</a:t>
                      </a:r>
                    </a:p>
                  </a:txBody>
                  <a:tcPr marL="91440" marR="91440" marT="45720" marB="45720" anchor="ctr">
                    <a:lnR w="5715">
                      <a:solidFill>
                        <a:srgbClr val="D8E1E7"/>
                      </a:solidFill>
                      <a:prstDash val="solid"/>
                    </a:lnR>
                    <a:lnB w="5715">
                      <a:solidFill>
                        <a:srgbClr val="D8E1E7"/>
                      </a:solidFill>
                      <a:prstDash val="solid"/>
                    </a:lnB>
                    <a:solidFill>
                      <a:srgbClr val="FAFBFC"/>
                    </a:solidFill>
                  </a:tcPr>
                </a:tc>
              </a:tr>
              <a:tr h="723900">
                <a:tc>
                  <a:txBody>
                    <a:bodyPr wrap="square" lIns="114300" tIns="76200" rIns="133350" bIns="76200">
                      <a:noAutofit/>
                    </a:bodyPr>
                    <a:lstStyle/>
                    <a:p>
                      <a:r>
                        <a:rPr sz="1725" b="1">
                          <a:solidFill>
                            <a:srgbClr val="146D70"/>
                          </a:solidFill>
                          <a:latin typeface="Arial"/>
                          <a:ea typeface="Arial"/>
                          <a:cs typeface="Arial"/>
                        </a:rPr>
                        <a:t>Diagnóstico</a:t>
                      </a:r>
                    </a:p>
                  </a:txBody>
                  <a:tcPr marL="91440" marR="91440" marT="45720" marB="45720" anchor="ctr">
                    <a:lnL w="5715">
                      <a:solidFill>
                        <a:srgbClr val="D8E1E7"/>
                      </a:solidFill>
                      <a:prstDash val="solid"/>
                    </a:lnL>
                    <a:lnR w="5715">
                      <a:solidFill>
                        <a:srgbClr val="D8E1E7"/>
                      </a:solidFill>
                      <a:prstDash val="solid"/>
                    </a:lnR>
                    <a:lnB w="5715">
                      <a:solidFill>
                        <a:srgbClr val="D8E1E7"/>
                      </a:solidFill>
                      <a:prstDash val="solid"/>
                    </a:lnB>
                    <a:solidFill>
                      <a:srgbClr val="FAFBFC"/>
                    </a:solidFill>
                  </a:tcPr>
                </a:tc>
                <a:tc>
                  <a:txBody>
                    <a:bodyPr wrap="square" lIns="114300" tIns="76200" rIns="133350" bIns="76200">
                      <a:noAutofit/>
                    </a:bodyPr>
                    <a:lstStyle/>
                    <a:p>
                      <a:r>
                        <a:rPr sz="1725" b="0">
                          <a:solidFill>
                            <a:srgbClr val="142D43"/>
                          </a:solidFill>
                          <a:latin typeface="Arial"/>
                          <a:ea typeface="Arial"/>
                          <a:cs typeface="Arial"/>
                        </a:rPr>
                        <a:t>Falhas são atribuídas à seleção, ao portfólio ou à viabilidade física.</a:t>
                      </a:r>
                    </a:p>
                  </a:txBody>
                  <a:tcPr marL="91440" marR="91440" marT="45720" marB="45720" anchor="ctr">
                    <a:lnR w="5715">
                      <a:solidFill>
                        <a:srgbClr val="D8E1E7"/>
                      </a:solidFill>
                      <a:prstDash val="solid"/>
                    </a:lnR>
                    <a:lnB w="5715">
                      <a:solidFill>
                        <a:srgbClr val="D8E1E7"/>
                      </a:solidFill>
                      <a:prstDash val="solid"/>
                    </a:lnB>
                    <a:solidFill>
                      <a:srgbClr val="FAFBFC"/>
                    </a:solidFill>
                  </a:tcPr>
                </a:tc>
                <a:tc>
                  <a:txBody>
                    <a:bodyPr wrap="square" lIns="114300" tIns="76200" rIns="133350" bIns="76200">
                      <a:noAutofit/>
                    </a:bodyPr>
                    <a:lstStyle/>
                    <a:p>
                      <a:r>
                        <a:rPr sz="1725" b="0">
                          <a:solidFill>
                            <a:srgbClr val="142D43"/>
                          </a:solidFill>
                          <a:latin typeface="Arial"/>
                          <a:ea typeface="Arial"/>
                          <a:cs typeface="Arial"/>
                        </a:rPr>
                        <a:t>Usar limites retrospectivos para orientar o que melhorar.</a:t>
                      </a:r>
                    </a:p>
                  </a:txBody>
                  <a:tcPr marL="91440" marR="91440" marT="45720" marB="45720" anchor="ctr">
                    <a:lnR w="5715">
                      <a:solidFill>
                        <a:srgbClr val="D8E1E7"/>
                      </a:solidFill>
                      <a:prstDash val="solid"/>
                    </a:lnR>
                    <a:lnB w="5715">
                      <a:solidFill>
                        <a:srgbClr val="D8E1E7"/>
                      </a:solidFill>
                      <a:prstDash val="solid"/>
                    </a:lnB>
                    <a:solidFill>
                      <a:srgbClr val="FAFBFC"/>
                    </a:solidFill>
                  </a:tcPr>
                </a:tc>
              </a:tr>
              <a:tr h="723900">
                <a:tc>
                  <a:txBody>
                    <a:bodyPr wrap="square" lIns="114300" tIns="76200" rIns="133350" bIns="76200">
                      <a:noAutofit/>
                    </a:bodyPr>
                    <a:lstStyle/>
                    <a:p>
                      <a:r>
                        <a:rPr sz="1725" b="1">
                          <a:solidFill>
                            <a:srgbClr val="146D70"/>
                          </a:solidFill>
                          <a:latin typeface="Arial"/>
                          <a:ea typeface="Arial"/>
                          <a:cs typeface="Arial"/>
                        </a:rPr>
                        <a:t>Aplicação</a:t>
                      </a:r>
                    </a:p>
                  </a:txBody>
                  <a:tcPr marL="91440" marR="91440" marT="45720" marB="45720" anchor="ctr">
                    <a:lnL w="5715">
                      <a:solidFill>
                        <a:srgbClr val="D8E1E7"/>
                      </a:solidFill>
                      <a:prstDash val="solid"/>
                    </a:lnL>
                    <a:lnR w="5715">
                      <a:solidFill>
                        <a:srgbClr val="D8E1E7"/>
                      </a:solidFill>
                      <a:prstDash val="solid"/>
                    </a:lnR>
                    <a:lnB w="5715">
                      <a:solidFill>
                        <a:srgbClr val="D8E1E7"/>
                      </a:solidFill>
                      <a:prstDash val="solid"/>
                    </a:lnB>
                    <a:solidFill>
                      <a:srgbClr val="FAFBFC"/>
                    </a:solidFill>
                  </a:tcPr>
                </a:tc>
                <a:tc>
                  <a:txBody>
                    <a:bodyPr wrap="square" lIns="114300" tIns="76200" rIns="133350" bIns="76200">
                      <a:noAutofit/>
                    </a:bodyPr>
                    <a:lstStyle/>
                    <a:p>
                      <a:r>
                        <a:rPr sz="1725" b="0">
                          <a:solidFill>
                            <a:srgbClr val="142D43"/>
                          </a:solidFill>
                          <a:latin typeface="Arial"/>
                          <a:ea typeface="Arial"/>
                          <a:cs typeface="Arial"/>
                        </a:rPr>
                        <a:t>Vendas brasileiras e M5 permitem examinar contextos distintos.</a:t>
                      </a:r>
                    </a:p>
                  </a:txBody>
                  <a:tcPr marL="91440" marR="91440" marT="45720" marB="45720" anchor="ctr">
                    <a:lnR w="5715">
                      <a:solidFill>
                        <a:srgbClr val="D8E1E7"/>
                      </a:solidFill>
                      <a:prstDash val="solid"/>
                    </a:lnR>
                    <a:lnB w="5715">
                      <a:solidFill>
                        <a:srgbClr val="D8E1E7"/>
                      </a:solidFill>
                      <a:prstDash val="solid"/>
                    </a:lnB>
                    <a:solidFill>
                      <a:srgbClr val="FAFBFC"/>
                    </a:solidFill>
                  </a:tcPr>
                </a:tc>
                <a:tc>
                  <a:txBody>
                    <a:bodyPr wrap="square" lIns="114300" tIns="76200" rIns="133350" bIns="76200">
                      <a:noAutofit/>
                    </a:bodyPr>
                    <a:lstStyle/>
                    <a:p>
                      <a:r>
                        <a:rPr sz="1725" b="0">
                          <a:solidFill>
                            <a:srgbClr val="142D43"/>
                          </a:solidFill>
                          <a:latin typeface="Arial"/>
                          <a:ea typeface="Arial"/>
                          <a:cs typeface="Arial"/>
                        </a:rPr>
                        <a:t>Delimitar ganhos, deteriorações e condições de uso.</a:t>
                      </a:r>
                    </a:p>
                  </a:txBody>
                  <a:tcPr marL="91440" marR="91440" marT="45720" marB="45720" anchor="ctr">
                    <a:lnR w="5715">
                      <a:solidFill>
                        <a:srgbClr val="D8E1E7"/>
                      </a:solidFill>
                      <a:prstDash val="solid"/>
                    </a:lnR>
                    <a:lnB w="5715">
                      <a:solidFill>
                        <a:srgbClr val="D8E1E7"/>
                      </a:solidFill>
                      <a:prstDash val="solid"/>
                    </a:lnB>
                    <a:solidFill>
                      <a:srgbClr val="FAFBFC"/>
                    </a:solidFill>
                  </a:tcPr>
                </a:tc>
              </a:tr>
            </a:tbl>
          </a:graphicData>
        </a:graphic>
      </p:graphicFrame>
      <p:sp>
        <p:nvSpPr>
          <p:cNvPr id="5" name="meeting-result">
            <a:extLst xmlns:a="http://schemas.openxmlformats.org/drawingml/2006/main">
              <a:ext uri="{FF2B5EF4-FFF2-40B4-BE49-F238E27FC236}">
                <a16:creationId xmlns:a16="http://schemas.microsoft.com/office/drawing/2014/main" id="{853E7E8C-7B72-4BDA-BB82-6A99190E18F3}"/>
              </a:ext>
            </a:extLst>
          </p:cNvPr>
          <p:cNvSpPr>
            <a:spLocks xmlns:a="http://schemas.openxmlformats.org/drawingml/2006/main" noGrp="1"/>
          </p:cNvSpPr>
          <p:nvPr/>
        </p:nvSpPr>
        <p:spPr>
          <a:xfrm xmlns:a="http://schemas.openxmlformats.org/drawingml/2006/main">
            <a:off x="609600" y="59436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46D70"/>
                </a:solidFill>
                <a:latin typeface="Arial"/>
                <a:ea typeface="Arial"/>
                <a:cs typeface="Arial"/>
              </a:defRPr>
            </a:defPPr>
          </a:lstStyle>
          <a:p xmlns:a="http://schemas.openxmlformats.org/drawingml/2006/main">
            <a:pPr>
              <a:defRPr sz="1875" b="1">
                <a:solidFill>
                  <a:srgbClr val="146D70"/>
                </a:solidFill>
                <a:latin typeface="Arial"/>
                <a:ea typeface="Arial"/>
                <a:cs typeface="Arial"/>
              </a:defRPr>
            </a:pPr>
            <a:r>
              <a:rPr sz="1875" b="1">
                <a:solidFill>
                  <a:srgbClr val="146D70"/>
                </a:solidFill>
                <a:latin typeface="Arial"/>
                <a:ea typeface="Arial"/>
                <a:cs typeface="Arial"/>
              </a:rPr>
              <a:t>Para alinhar: qual contribuição será central e qual evidência mínima precisa sustentá-la?</a:t>
            </a:r>
          </a:p>
        </p:txBody>
      </p:sp>
      <p:sp>
        <p:nvSpPr>
          <p:cNvPr id="6" name="author">
            <a:extLst xmlns:a="http://schemas.openxmlformats.org/drawingml/2006/main">
              <a:ext uri="{FF2B5EF4-FFF2-40B4-BE49-F238E27FC236}">
                <a16:creationId xmlns:a16="http://schemas.microsoft.com/office/drawing/2014/main" id="{BDA0C571-ED3B-4807-849C-C0D41F31295B}"/>
              </a:ext>
            </a:extLst>
          </p:cNvPr>
          <p:cNvSpPr>
            <a:spLocks xmlns:a="http://schemas.openxmlformats.org/drawingml/2006/main" noGrp="1"/>
          </p:cNvSpPr>
          <p:nvPr/>
        </p:nvSpPr>
        <p:spPr>
          <a:xfrm xmlns:a="http://schemas.openxmlformats.org/drawingml/2006/main">
            <a:off x="609600" y="6486525"/>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575"/>
                </a:solidFill>
                <a:latin typeface="Arial"/>
                <a:ea typeface="Arial"/>
                <a:cs typeface="Arial"/>
              </a:defRPr>
            </a:defPPr>
          </a:lstStyle>
          <a:p xmlns:a="http://schemas.openxmlformats.org/drawingml/2006/main">
            <a:pPr>
              <a:defRPr sz="1275" b="0">
                <a:solidFill>
                  <a:srgbClr val="526575"/>
                </a:solidFill>
                <a:latin typeface="Arial"/>
                <a:ea typeface="Arial"/>
                <a:cs typeface="Arial"/>
              </a:defRPr>
            </a:pPr>
            <a:r>
              <a:rPr sz="1275" b="0">
                <a:solidFill>
                  <a:srgbClr val="526575"/>
                </a:solidFill>
                <a:latin typeface="Arial"/>
                <a:ea typeface="Arial"/>
                <a:cs typeface="Arial"/>
              </a:rPr>
              <a:t>Matheus Inácio Batista Santos, 16/10/2026</a:t>
            </a:r>
          </a:p>
        </p:txBody>
      </p:sp>
    </p:spTree>
    <p:extLst>
      <p:ext uri="{BB962C8B-B14F-4D97-AF65-F5344CB8AC3E}">
        <p14:creationId xmlns:p14="http://schemas.microsoft.com/office/powerpoint/2010/main" val="2324391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2026-10-16T16:35:09.3640000Z</dcterms:created>
  <dcterms:modified xsi:type="dcterms:W3CDTF">2026-10-16T16:35:09.3640000Z</dcterms:modified>
</coreProperties>
</file>